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本次汇报将四篇近期文献按问题归类，不再逐篇占用一页。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本页只交代文献构成和阅读顺序，不提前给出结论。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Jiang &amp; Han (2025), DOI 10.1016/j.eswa.2025.127094。Cui et al. (2026), DOI 10.1016/j.neucom.2025.132584。Hu et al. (2026), DOI 10.1016/j.tra.2026.105093。Guo et al. (2026), DOI 10.1049/itr2.70195。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KGNARec分别建模后再融合。DLSP进一步减少长短期信息互相干扰。两篇论文的主要任务都是下一地点预测。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天气论文观察外部场景造成的需求变化。动态票价论文观察旅客之间的选择差异。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本页先合并两类文献的研究范围，再用铁路购票例子得到动态画像的判断。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请老师判断研究问题是否需要进一步收窄。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14" name="图片 5"/>
          <p:cNvPicPr>
            <a:picLocks noChangeAspect="1"/>
          </p:cNvPicPr>
          <p:nvPr/>
        </p:nvPicPr>
        <p:blipFill>
          <a:blip r:embed="rId2">
            <a:alphaModFix amt="95000"/>
          </a:blip>
          <a:srcRect/>
          <a:stretch>
            <a:fillRect/>
          </a:stretch>
        </p:blipFill>
        <p:spPr>
          <a:xfrm flipV="1">
            <a:off x="1" y="-6"/>
            <a:ext cx="12191998" cy="4324355"/>
          </a:xfrm>
        </p:spPr>
      </p:pic>
      <p:pic>
        <p:nvPicPr>
          <p:cNvPr id="15" name="图片 6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flipV="1">
            <a:off x="1224328" y="-6"/>
            <a:ext cx="10967672" cy="32131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" y="-6"/>
            <a:ext cx="12191207" cy="6857107"/>
          </a:xfrm>
          <a:prstGeom prst="rect">
            <a:avLst/>
          </a:prstGeom>
          <a:gradFill rotWithShape="1">
            <a:gsLst>
              <a:gs pos="51000">
                <a:srgbClr val="308FF0">
                  <a:lumMod val="10000"/>
                  <a:lumOff val="90000"/>
                  <a:alpha val="0"/>
                </a:srgbClr>
              </a:gs>
              <a:gs pos="0">
                <a:srgbClr val="308FF0">
                  <a:lumMod val="20000"/>
                  <a:lumOff val="80000"/>
                  <a:alpha val="49271"/>
                </a:srgbClr>
              </a:gs>
              <a:gs pos="100000">
                <a:srgbClr val="E9ECFC"/>
              </a:gs>
            </a:gsLst>
            <a:lin ang="2700000" scaled="1"/>
            <a:tileRect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b="0" i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="0" i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b="0" i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b="0" i="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b="0" i="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b="0" i="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b="0" i="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b="0" i="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3000">
                <a:schemeClr val="accent5">
                  <a:lumMod val="40000"/>
                  <a:lumOff val="60000"/>
                  <a:alpha val="88186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0" name="图片 34"/>
          <p:cNvPicPr>
            <a:picLocks noChangeAspect="1"/>
          </p:cNvPicPr>
          <p:nvPr/>
        </p:nvPicPr>
        <p:blipFill rotWithShape="1">
          <a:blip r:embed="rId1"/>
          <a:srcRect t="4621" b="7977"/>
          <a:stretch>
            <a:fillRect/>
          </a:stretch>
        </p:blipFill>
        <p:spPr>
          <a:xfrm>
            <a:off x="3994484" y="0"/>
            <a:ext cx="8197516" cy="5474630"/>
          </a:xfrm>
        </p:spPr>
      </p:pic>
      <p:sp>
        <p:nvSpPr>
          <p:cNvPr id="11" name="矩形: 单圆角 4"/>
          <p:cNvSpPr>
            <a:spLocks noGrp="1"/>
          </p:cNvSpPr>
          <p:nvPr/>
        </p:nvSpPr>
        <p:spPr>
          <a:xfrm flipV="1">
            <a:off x="0" y="9832"/>
            <a:ext cx="12192000" cy="5474630"/>
          </a:xfrm>
          <a:prstGeom prst="round1Rect">
            <a:avLst>
              <a:gd name="adj" fmla="val 50000"/>
            </a:avLst>
          </a:prstGeom>
          <a:gradFill>
            <a:gsLst>
              <a:gs pos="4000">
                <a:srgbClr val="2F90D8"/>
              </a:gs>
              <a:gs pos="44000">
                <a:srgbClr val="3354B5"/>
              </a:gs>
              <a:gs pos="100000">
                <a:srgbClr val="201E97">
                  <a:alpha val="63137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952500" y="1745615"/>
            <a:ext cx="10096500" cy="1711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28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旅客出行偏好动态画像：2025—2026年文献调研</a:t>
            </a:r>
            <a:endParaRPr sz="6000" b="1" i="0" u="none" kern="100" cap="none" spc="0" baseline="0">
              <a:ln>
                <a:noFill/>
              </a:ln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algn="tl" rotWithShape="0">
                  <a:prstClr val="black">
                    <a:alpha val="45000"/>
                  </a:prst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3714750" y="4896803"/>
            <a:ext cx="4762500" cy="3219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汇报人：刘杰    2026年9月2</a:t>
            </a:r>
            <a:r>
              <a:rPr lang="en-US" sz="1350" b="0" i="0" u="none" cap="none" spc="0">
                <a:ln>
                  <a:noFill/>
                </a:ln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r>
              <a:rPr sz="1350" b="0" i="0" u="none" cap="none" spc="0">
                <a:ln>
                  <a:noFill/>
                </a:ln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4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39" y="694065"/>
            <a:ext cx="3110302" cy="941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 flipH="1">
            <a:off x="-1" y="6602681"/>
            <a:ext cx="12191683" cy="254872"/>
          </a:xfrm>
          <a:prstGeom prst="rect">
            <a:avLst/>
          </a:prstGeom>
          <a:gradFill>
            <a:gsLst>
              <a:gs pos="100000">
                <a:srgbClr val="2F90D8">
                  <a:alpha val="98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38662"/>
            <a:ext cx="594505" cy="663864"/>
          </a:xfrm>
          <a:prstGeom prst="rect">
            <a:avLst/>
          </a:prstGeom>
        </p:spPr>
      </p:pic>
      <p:sp>
        <p:nvSpPr>
          <p:cNvPr id="8" name="直接连接符 34"/>
          <p:cNvSpPr>
            <a:spLocks noGrp="1"/>
          </p:cNvSpPr>
          <p:nvPr/>
        </p:nvSpPr>
        <p:spPr>
          <a:xfrm>
            <a:off x="382784" y="1044792"/>
            <a:ext cx="11551917" cy="0"/>
          </a:xfrm>
          <a:prstGeom prst="line">
            <a:avLst/>
          </a:prstGeom>
          <a:noFill/>
          <a:ln w="19050">
            <a:gradFill>
              <a:gsLst>
                <a:gs pos="0">
                  <a:srgbClr val="006ED8"/>
                </a:gs>
                <a:gs pos="100000">
                  <a:srgbClr val="006ED8">
                    <a:alpha val="0"/>
                  </a:srgbClr>
                </a:gs>
              </a:gsLst>
              <a:lin ang="0" scaled="0"/>
            </a:gradFill>
            <a:prstDash val="solid"/>
          </a:ln>
        </p:spPr>
      </p:sp>
      <p:sp>
        <p:nvSpPr>
          <p:cNvPr id="11" name="平行四边形 10"/>
          <p:cNvSpPr>
            <a:spLocks noGrp="1"/>
          </p:cNvSpPr>
          <p:nvPr/>
        </p:nvSpPr>
        <p:spPr>
          <a:xfrm>
            <a:off x="387772" y="50014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88000">
                <a:srgbClr val="006ED8">
                  <a:alpha val="29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平行四边形 11"/>
          <p:cNvSpPr>
            <a:spLocks noGrp="1"/>
          </p:cNvSpPr>
          <p:nvPr/>
        </p:nvSpPr>
        <p:spPr>
          <a:xfrm>
            <a:off x="533822" y="43029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100000">
                <a:srgbClr val="21459F"/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209550"/>
            <a:ext cx="9953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550" b="1">
                <a:solidFill>
                  <a:srgbClr val="0874C9"/>
                </a:solidFill>
                <a:latin typeface="微软雅黑"/>
                <a:ea typeface="微软雅黑"/>
                <a:cs typeface="微软雅黑"/>
              </a:rPr>
              <a:t>文献</a:t>
            </a:r>
            <a:r>
              <a:rPr lang="zh-CN" sz="2550" b="1">
                <a:solidFill>
                  <a:srgbClr val="0874C9"/>
                </a:solidFill>
                <a:latin typeface="微软雅黑"/>
                <a:ea typeface="微软雅黑"/>
                <a:cs typeface="微软雅黑"/>
              </a:rPr>
              <a:t>分享</a:t>
            </a:r>
            <a:endParaRPr lang="zh-CN" sz="2550" b="1">
              <a:solidFill>
                <a:srgbClr val="0874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838200" y="1123950"/>
            <a:ext cx="10515600" cy="485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71717"/>
                </a:solidFill>
                <a:latin typeface="微软雅黑"/>
                <a:ea typeface="微软雅黑"/>
                <a:cs typeface="微软雅黑"/>
              </a:defRPr>
            </a:pPr>
            <a:endParaRPr sz="1575" b="0">
              <a:solidFill>
                <a:srgbClr val="17171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838200" y="1257300"/>
            <a:ext cx="4667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长期与短期偏好</a:t>
            </a:r>
            <a:endParaRPr sz="1875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838200" y="1866900"/>
            <a:ext cx="46672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KGNARec和DLSP都关注同一个现象：一个人过去形成的习惯，和最近一段时间的选择并不完全一样。两篇论文研究怎样同时利用这两部分信息预测下一次选择。</a:t>
            </a:r>
            <a:endParaRPr sz="1650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5924550" y="1257300"/>
            <a:ext cx="19050" cy="3143250"/>
          </a:xfrm>
          <a:prstGeom prst="rect">
            <a:avLst/>
          </a:prstGeom>
          <a:solidFill>
            <a:srgbClr val="B7C9D9"/>
          </a:solidFill>
          <a:ln w="0">
            <a:noFill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6343650" y="1257300"/>
            <a:ext cx="4667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高铁旅客选择</a:t>
            </a:r>
            <a:endParaRPr sz="1875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6343650" y="1866900"/>
            <a:ext cx="46672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另外两篇论文从高铁业务出发，分别观察动态票价、恶劣天气和节假日等条件变化后，旅客会怎样调整出行选择。</a:t>
            </a:r>
            <a:endParaRPr sz="1650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 flipH="1">
            <a:off x="-1" y="6602681"/>
            <a:ext cx="12191683" cy="254872"/>
          </a:xfrm>
          <a:prstGeom prst="rect">
            <a:avLst/>
          </a:prstGeom>
          <a:gradFill>
            <a:gsLst>
              <a:gs pos="100000">
                <a:srgbClr val="2F90D8">
                  <a:alpha val="98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38662"/>
            <a:ext cx="594505" cy="663864"/>
          </a:xfrm>
          <a:prstGeom prst="rect">
            <a:avLst/>
          </a:prstGeom>
        </p:spPr>
      </p:pic>
      <p:sp>
        <p:nvSpPr>
          <p:cNvPr id="8" name="直接连接符 34"/>
          <p:cNvSpPr>
            <a:spLocks noGrp="1"/>
          </p:cNvSpPr>
          <p:nvPr/>
        </p:nvSpPr>
        <p:spPr>
          <a:xfrm>
            <a:off x="382784" y="1044792"/>
            <a:ext cx="11551917" cy="0"/>
          </a:xfrm>
          <a:prstGeom prst="line">
            <a:avLst/>
          </a:prstGeom>
          <a:noFill/>
          <a:ln w="19050">
            <a:gradFill>
              <a:gsLst>
                <a:gs pos="0">
                  <a:srgbClr val="006ED8"/>
                </a:gs>
                <a:gs pos="100000">
                  <a:srgbClr val="006ED8">
                    <a:alpha val="0"/>
                  </a:srgbClr>
                </a:gs>
              </a:gsLst>
              <a:lin ang="0" scaled="0"/>
            </a:gradFill>
            <a:prstDash val="solid"/>
          </a:ln>
        </p:spPr>
      </p:sp>
      <p:sp>
        <p:nvSpPr>
          <p:cNvPr id="11" name="平行四边形 10"/>
          <p:cNvSpPr>
            <a:spLocks noGrp="1"/>
          </p:cNvSpPr>
          <p:nvPr/>
        </p:nvSpPr>
        <p:spPr>
          <a:xfrm>
            <a:off x="387772" y="50014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88000">
                <a:srgbClr val="006ED8">
                  <a:alpha val="29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平行四边形 11"/>
          <p:cNvSpPr>
            <a:spLocks noGrp="1"/>
          </p:cNvSpPr>
          <p:nvPr/>
        </p:nvSpPr>
        <p:spPr>
          <a:xfrm>
            <a:off x="533822" y="43029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100000">
                <a:srgbClr val="21459F"/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209550"/>
            <a:ext cx="9953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四篇论文分别研究了什么</a:t>
            </a:r>
            <a:endParaRPr sz="2550" b="1">
              <a:solidFill>
                <a:srgbClr val="0874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838200" y="1123950"/>
            <a:ext cx="10515600" cy="485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71717"/>
                </a:solidFill>
                <a:latin typeface="微软雅黑"/>
                <a:ea typeface="微软雅黑"/>
                <a:cs typeface="微软雅黑"/>
              </a:defRPr>
            </a:pPr>
            <a:endParaRPr sz="1575" b="0">
              <a:solidFill>
                <a:srgbClr val="17171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49" name="表格 148"/>
          <p:cNvGraphicFramePr/>
          <p:nvPr/>
        </p:nvGraphicFramePr>
        <p:xfrm>
          <a:off x="742950" y="1200150"/>
          <a:ext cx="10706100" cy="4591050"/>
        </p:xfrm>
        <a:graphic>
          <a:graphicData uri="http://schemas.openxmlformats.org/drawingml/2006/table">
            <a:tbl>
              <a:tblPr/>
              <a:tblGrid>
                <a:gridCol w="3714750"/>
                <a:gridCol w="1619250"/>
                <a:gridCol w="2857500"/>
                <a:gridCol w="25146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论文</a:t>
                      </a:r>
                      <a:endParaRPr sz="13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57150" marR="57150" marT="38100" marB="38100" anchor="ctr">
                    <a:solidFill>
                      <a:srgbClr val="115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数据与场景</a:t>
                      </a:r>
                      <a:endParaRPr sz="13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57150" marR="57150" marT="38100" marB="38100" anchor="ctr">
                    <a:solidFill>
                      <a:srgbClr val="115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研究内容</a:t>
                      </a:r>
                      <a:endParaRPr sz="13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57150" marR="57150" marT="38100" marB="38100" anchor="ctr">
                    <a:solidFill>
                      <a:srgbClr val="115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主要结果</a:t>
                      </a:r>
                      <a:endParaRPr sz="13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57150" marR="57150" marT="38100" marB="38100" anchor="ctr">
                    <a:solidFill>
                      <a:srgbClr val="115B9B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015">
                          <a:solidFill>
                            <a:srgbClr val="222222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Knowledge Graph-driven Personalized Attractions Recommendations with Tourists’ Long- and Short-term Interest Modeling</a:t>
                      </a:r>
                      <a:r>
                        <a:rPr lang="en-US" sz="1015">
                          <a:solidFill>
                            <a:srgbClr val="222222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(2025)</a:t>
                      </a:r>
                      <a:endParaRPr lang="en-US" sz="1015">
                        <a:solidFill>
                          <a:srgbClr val="222222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北京旅游轨迹数据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用历史记录表示长期兴趣，用近期轨迹表示短期兴趣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同时使用两类信息时，AUC高于只使用其中一类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015">
                          <a:solidFill>
                            <a:srgbClr val="222222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DLSP: A Contrastive Learning Framework for Disentangling Long- and Short-term Preferences in Next POI Recommendation</a:t>
                      </a:r>
                      <a:r>
                        <a:rPr lang="en-US" sz="1015">
                          <a:solidFill>
                            <a:srgbClr val="222222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(2026)</a:t>
                      </a:r>
                      <a:endParaRPr lang="en-US" sz="1015">
                        <a:solidFill>
                          <a:srgbClr val="222222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三个城市的签到数据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分别提取长期与短期偏好，减少两类信息重叠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分开编码并动态融合后，下一地点预测更准确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015">
                          <a:solidFill>
                            <a:srgbClr val="222222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Transport Substitution and Travel Resilience under Bad Weather: Evidence from High-speed Rail and Air Travel in China</a:t>
                      </a:r>
                      <a:r>
                        <a:rPr lang="en-US" sz="1015">
                          <a:solidFill>
                            <a:srgbClr val="222222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(2026)</a:t>
                      </a:r>
                      <a:endParaRPr lang="en-US" sz="1015">
                        <a:solidFill>
                          <a:srgbClr val="222222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近37亿条高铁订票记录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分析恶劣天气下高铁与航空之间的需求转移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部分航空需求会转向高铁，长假期间变化更明显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015">
                          <a:solidFill>
                            <a:srgbClr val="222222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Analysis of High-Speed Rail Passenger Travel Behaviour Considering Passenger Heterogeneity under Dynamic Pricing Strategy</a:t>
                      </a:r>
                      <a:r>
                        <a:rPr lang="en-US" sz="1015">
                          <a:solidFill>
                            <a:srgbClr val="222222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(2026)</a:t>
                      </a:r>
                      <a:endParaRPr lang="en-US" sz="1015">
                        <a:solidFill>
                          <a:srgbClr val="222222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823份京沪高铁调查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分析动态票价下不同旅客的选择差异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5">
                          <a:solidFill>
                            <a:srgbClr val="2222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旅客表现出时间敏感、成本敏感等不同倾向</a:t>
                      </a:r>
                      <a:endParaRPr sz="1165">
                        <a:solidFill>
                          <a:srgbClr val="2222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矩形 139"/>
          <p:cNvSpPr>
            <a:spLocks noGrp="1"/>
          </p:cNvSpPr>
          <p:nvPr/>
        </p:nvSpPr>
        <p:spPr>
          <a:xfrm>
            <a:off x="742950" y="5524500"/>
            <a:ext cx="10706100" cy="457200"/>
          </a:xfrm>
          <a:prstGeom prst="rect">
            <a:avLst/>
          </a:prstGeom>
          <a:solidFill>
            <a:srgbClr val="EAF4FC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前两篇研究长期和短期偏好，后两篇研究天气、节假日和票价带来的选择变化。</a:t>
            </a:r>
            <a:endParaRPr sz="1425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 flipH="1">
            <a:off x="-1" y="6602681"/>
            <a:ext cx="12191683" cy="254872"/>
          </a:xfrm>
          <a:prstGeom prst="rect">
            <a:avLst/>
          </a:prstGeom>
          <a:gradFill>
            <a:gsLst>
              <a:gs pos="100000">
                <a:srgbClr val="2F90D8">
                  <a:alpha val="98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38662"/>
            <a:ext cx="594505" cy="663864"/>
          </a:xfrm>
          <a:prstGeom prst="rect">
            <a:avLst/>
          </a:prstGeom>
        </p:spPr>
      </p:pic>
      <p:sp>
        <p:nvSpPr>
          <p:cNvPr id="8" name="直接连接符 34"/>
          <p:cNvSpPr>
            <a:spLocks noGrp="1"/>
          </p:cNvSpPr>
          <p:nvPr/>
        </p:nvSpPr>
        <p:spPr>
          <a:xfrm>
            <a:off x="382784" y="1044792"/>
            <a:ext cx="11551917" cy="0"/>
          </a:xfrm>
          <a:prstGeom prst="line">
            <a:avLst/>
          </a:prstGeom>
          <a:noFill/>
          <a:ln w="19050">
            <a:gradFill>
              <a:gsLst>
                <a:gs pos="0">
                  <a:srgbClr val="006ED8"/>
                </a:gs>
                <a:gs pos="100000">
                  <a:srgbClr val="006ED8">
                    <a:alpha val="0"/>
                  </a:srgbClr>
                </a:gs>
              </a:gsLst>
              <a:lin ang="0" scaled="0"/>
            </a:gradFill>
            <a:prstDash val="solid"/>
          </a:ln>
        </p:spPr>
      </p:sp>
      <p:sp>
        <p:nvSpPr>
          <p:cNvPr id="11" name="平行四边形 10"/>
          <p:cNvSpPr>
            <a:spLocks noGrp="1"/>
          </p:cNvSpPr>
          <p:nvPr/>
        </p:nvSpPr>
        <p:spPr>
          <a:xfrm>
            <a:off x="387772" y="50014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88000">
                <a:srgbClr val="006ED8">
                  <a:alpha val="29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平行四边形 11"/>
          <p:cNvSpPr>
            <a:spLocks noGrp="1"/>
          </p:cNvSpPr>
          <p:nvPr/>
        </p:nvSpPr>
        <p:spPr>
          <a:xfrm>
            <a:off x="533822" y="43029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100000">
                <a:srgbClr val="21459F"/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209550"/>
            <a:ext cx="9953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两篇推荐论文对长短期偏好的处理</a:t>
            </a:r>
            <a:endParaRPr sz="2550" b="1">
              <a:solidFill>
                <a:srgbClr val="0874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838200" y="1123950"/>
            <a:ext cx="10515600" cy="485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71717"/>
                </a:solidFill>
                <a:latin typeface="微软雅黑"/>
                <a:ea typeface="微软雅黑"/>
                <a:cs typeface="微软雅黑"/>
              </a:defRPr>
            </a:pPr>
            <a:endParaRPr sz="1575" b="0">
              <a:solidFill>
                <a:srgbClr val="17171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838200" y="114300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15B9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100" b="1">
                <a:solidFill>
                  <a:srgbClr val="115B9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Knowledge Graph-driven Personalized Attractions Recommendations with Tourists’ Long- and Short-term Interest Modeling</a:t>
            </a:r>
            <a:endParaRPr lang="en-US" altLang="zh-CN" sz="1100" b="1">
              <a:solidFill>
                <a:srgbClr val="115B9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725" b="1">
                <a:solidFill>
                  <a:srgbClr val="115B9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lang="en-US" altLang="zh-CN" sz="300" b="1">
              <a:solidFill>
                <a:srgbClr val="115B9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6344285" y="1143000"/>
            <a:ext cx="466661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0000"/>
          </a:bodyPr>
          <a:lstStyle/>
          <a:p>
            <a:pPr algn="l">
              <a:defRPr sz="1725" b="1">
                <a:solidFill>
                  <a:srgbClr val="115B9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725" b="1">
                <a:solidFill>
                  <a:srgbClr val="115B9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DLSP: A Contrastive Learning Framework for Disentangling Long- and Short-term Preferences in Next POI Recommendation</a:t>
            </a:r>
            <a:endParaRPr lang="en-US" altLang="zh-CN" sz="1725" b="1">
              <a:solidFill>
                <a:srgbClr val="115B9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5924550" y="1200150"/>
            <a:ext cx="19050" cy="3676650"/>
          </a:xfrm>
          <a:prstGeom prst="rect">
            <a:avLst/>
          </a:prstGeom>
          <a:solidFill>
            <a:srgbClr val="B7C9D9"/>
          </a:solidFill>
          <a:ln w="0">
            <a:noFill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838200" y="16954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长期和短期的划分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838200" y="2019300"/>
            <a:ext cx="46672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长期来自完整历史和景点之间的知识关系。短期来自最近一段出行轨迹。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838200" y="28765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论文的处理方式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838200" y="3200400"/>
            <a:ext cx="46672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论文将用户平时稳定的兴趣和近期表现出的兴趣分开记录，再根据当前状态进行组合。结果表明，长期兴趣是判断用户选择的主要依据，近期行为可以补充当前需求，两者结合比单独使用一种信息更有效。</a:t>
            </a:r>
            <a:endParaRPr lang="zh-CN" altLang="en-US"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6" name="矩形 145"/>
          <p:cNvSpPr>
            <a:spLocks noGrp="1"/>
          </p:cNvSpPr>
          <p:nvPr/>
        </p:nvSpPr>
        <p:spPr>
          <a:xfrm>
            <a:off x="838200" y="422910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研究范围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7" name="矩形 146"/>
          <p:cNvSpPr>
            <a:spLocks noGrp="1"/>
          </p:cNvSpPr>
          <p:nvPr/>
        </p:nvSpPr>
        <p:spPr>
          <a:xfrm>
            <a:off x="838200" y="455295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数据来自旅游景点访问，研究目标是推荐下一景点。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8" name="矩形 147"/>
          <p:cNvSpPr>
            <a:spLocks noGrp="1"/>
          </p:cNvSpPr>
          <p:nvPr/>
        </p:nvSpPr>
        <p:spPr>
          <a:xfrm>
            <a:off x="6343650" y="16954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长期和短期的划分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6343650" y="2019300"/>
            <a:ext cx="46672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长期是预测日前多天的行为。短期是预测当天已经发生的行为。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6343650" y="28765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论文的处理方式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6343650" y="3200400"/>
            <a:ext cx="46672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两套编码器分别提取长期和短期信息，再减少两类信息的重叠，最后根据当前行为进行融合。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6343650" y="422910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研究范围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6343650" y="455295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实验使用城市签到数据，没有票价、余票等铁路条件。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838200" y="5219700"/>
            <a:ext cx="10172700" cy="552450"/>
          </a:xfrm>
          <a:prstGeom prst="rect">
            <a:avLst/>
          </a:prstGeom>
          <a:solidFill>
            <a:srgbClr val="115B9B"/>
          </a:solidFill>
          <a:ln w="0">
            <a:noFill/>
          </a:ln>
        </p:spPr>
        <p:txBody>
          <a:bodyPr lIns="171450" tIns="0" rIns="1143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两篇论文处理的是怎样使用长短期信息，没有继续判断近期行为为什么发生。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 flipH="1">
            <a:off x="-1" y="6602681"/>
            <a:ext cx="12191683" cy="254872"/>
          </a:xfrm>
          <a:prstGeom prst="rect">
            <a:avLst/>
          </a:prstGeom>
          <a:gradFill>
            <a:gsLst>
              <a:gs pos="100000">
                <a:srgbClr val="2F90D8">
                  <a:alpha val="98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38662"/>
            <a:ext cx="594505" cy="663864"/>
          </a:xfrm>
          <a:prstGeom prst="rect">
            <a:avLst/>
          </a:prstGeom>
        </p:spPr>
      </p:pic>
      <p:sp>
        <p:nvSpPr>
          <p:cNvPr id="8" name="直接连接符 34"/>
          <p:cNvSpPr>
            <a:spLocks noGrp="1"/>
          </p:cNvSpPr>
          <p:nvPr/>
        </p:nvSpPr>
        <p:spPr>
          <a:xfrm>
            <a:off x="382784" y="1044792"/>
            <a:ext cx="11551917" cy="0"/>
          </a:xfrm>
          <a:prstGeom prst="line">
            <a:avLst/>
          </a:prstGeom>
          <a:noFill/>
          <a:ln w="19050">
            <a:gradFill>
              <a:gsLst>
                <a:gs pos="0">
                  <a:srgbClr val="006ED8"/>
                </a:gs>
                <a:gs pos="100000">
                  <a:srgbClr val="006ED8">
                    <a:alpha val="0"/>
                  </a:srgbClr>
                </a:gs>
              </a:gsLst>
              <a:lin ang="0" scaled="0"/>
            </a:gradFill>
            <a:prstDash val="solid"/>
          </a:ln>
        </p:spPr>
      </p:sp>
      <p:sp>
        <p:nvSpPr>
          <p:cNvPr id="11" name="平行四边形 10"/>
          <p:cNvSpPr>
            <a:spLocks noGrp="1"/>
          </p:cNvSpPr>
          <p:nvPr/>
        </p:nvSpPr>
        <p:spPr>
          <a:xfrm>
            <a:off x="387772" y="50014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88000">
                <a:srgbClr val="006ED8">
                  <a:alpha val="29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平行四边形 11"/>
          <p:cNvSpPr>
            <a:spLocks noGrp="1"/>
          </p:cNvSpPr>
          <p:nvPr/>
        </p:nvSpPr>
        <p:spPr>
          <a:xfrm>
            <a:off x="533822" y="43029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100000">
                <a:srgbClr val="21459F"/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209550"/>
            <a:ext cx="9953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两篇高铁论文中的场景变化</a:t>
            </a:r>
            <a:endParaRPr sz="2550" b="1">
              <a:solidFill>
                <a:srgbClr val="0874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838200" y="1123950"/>
            <a:ext cx="10515600" cy="485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71717"/>
                </a:solidFill>
                <a:latin typeface="微软雅黑"/>
                <a:ea typeface="微软雅黑"/>
                <a:cs typeface="微软雅黑"/>
              </a:defRPr>
            </a:pPr>
            <a:endParaRPr sz="1575" b="0">
              <a:solidFill>
                <a:srgbClr val="17171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838200" y="114300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zh-CN" sz="110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Transport Substitution and Travel Resilience under Bad Weather: Evidence from High-speed Rail and Air Travel in China</a:t>
            </a:r>
            <a:endParaRPr lang="en-US" altLang="zh-CN" sz="110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6343650" y="114300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zh-CN" sz="110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Analysis of High-Speed Rail Passenger Travel Behaviour Considering Passenger Heterogeneity under Dynamic Pricing Strategy</a:t>
            </a:r>
            <a:endParaRPr lang="en-US" altLang="zh-CN" sz="110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5924550" y="1200150"/>
            <a:ext cx="19050" cy="3676650"/>
          </a:xfrm>
          <a:prstGeom prst="rect">
            <a:avLst/>
          </a:prstGeom>
          <a:solidFill>
            <a:srgbClr val="B7C9D9"/>
          </a:solidFill>
          <a:ln w="0">
            <a:noFill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838200" y="16954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使用的数据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838200" y="2019300"/>
            <a:ext cx="4667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将近37亿条中国高铁订票记录，并结合航空和天气数据进行分析。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838200" y="278130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论文发现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838200" y="3105150"/>
            <a:ext cx="466725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恶劣天气时，部分航空需求会转向高铁。2—7小时行程更明显，长假期间变化也更强。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6" name="矩形 145"/>
          <p:cNvSpPr>
            <a:spLocks noGrp="1"/>
          </p:cNvSpPr>
          <p:nvPr/>
        </p:nvSpPr>
        <p:spPr>
          <a:xfrm>
            <a:off x="838200" y="40576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研究范围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7" name="矩形 146"/>
          <p:cNvSpPr>
            <a:spLocks noGrp="1"/>
          </p:cNvSpPr>
          <p:nvPr/>
        </p:nvSpPr>
        <p:spPr>
          <a:xfrm>
            <a:off x="838200" y="4381500"/>
            <a:ext cx="46672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论文观察线路和市场层面的变化，没有持续跟踪同一旅客。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8" name="矩形 147"/>
          <p:cNvSpPr>
            <a:spLocks noGrp="1"/>
          </p:cNvSpPr>
          <p:nvPr/>
        </p:nvSpPr>
        <p:spPr>
          <a:xfrm>
            <a:off x="6343650" y="16954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使用的数据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6343650" y="2019300"/>
            <a:ext cx="4667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823份京沪高铁调查，记录旅客面对票价、时间和服务差异时的选择。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6343650" y="278130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论文发现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6343650" y="3105150"/>
            <a:ext cx="466725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旅客表现出时间敏感、成本敏感、情景依赖和体验导向等不同倾向。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6343650" y="40576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研究范围</a:t>
            </a:r>
            <a:endParaRPr sz="1350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6343650" y="4381500"/>
            <a:ext cx="46672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38100" bIns="0" anchor="t">
            <a:norm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一次问卷得到的是静态分群，没有观察同一旅客之后怎样变化。</a:t>
            </a:r>
            <a:endParaRPr sz="14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838200" y="5219700"/>
            <a:ext cx="10172700" cy="552450"/>
          </a:xfrm>
          <a:prstGeom prst="rect">
            <a:avLst/>
          </a:prstGeom>
          <a:solidFill>
            <a:srgbClr val="115B9B"/>
          </a:solidFill>
          <a:ln w="0">
            <a:noFill/>
          </a:ln>
        </p:spPr>
        <p:txBody>
          <a:bodyPr lIns="171450" tIns="0" rIns="1143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两篇论文说明，旅客的选择会受当时场景影响，不同旅客的反应也不一样。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 flipH="1">
            <a:off x="-1" y="6602681"/>
            <a:ext cx="12191683" cy="254872"/>
          </a:xfrm>
          <a:prstGeom prst="rect">
            <a:avLst/>
          </a:prstGeom>
          <a:gradFill>
            <a:gsLst>
              <a:gs pos="100000">
                <a:srgbClr val="2F90D8">
                  <a:alpha val="98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38662"/>
            <a:ext cx="594505" cy="663864"/>
          </a:xfrm>
          <a:prstGeom prst="rect">
            <a:avLst/>
          </a:prstGeom>
        </p:spPr>
      </p:pic>
      <p:sp>
        <p:nvSpPr>
          <p:cNvPr id="8" name="直接连接符 34"/>
          <p:cNvSpPr>
            <a:spLocks noGrp="1"/>
          </p:cNvSpPr>
          <p:nvPr/>
        </p:nvSpPr>
        <p:spPr>
          <a:xfrm>
            <a:off x="382784" y="1044792"/>
            <a:ext cx="11551917" cy="0"/>
          </a:xfrm>
          <a:prstGeom prst="line">
            <a:avLst/>
          </a:prstGeom>
          <a:noFill/>
          <a:ln w="19050">
            <a:gradFill>
              <a:gsLst>
                <a:gs pos="0">
                  <a:srgbClr val="006ED8"/>
                </a:gs>
                <a:gs pos="100000">
                  <a:srgbClr val="006ED8">
                    <a:alpha val="0"/>
                  </a:srgbClr>
                </a:gs>
              </a:gsLst>
              <a:lin ang="0" scaled="0"/>
            </a:gradFill>
            <a:prstDash val="solid"/>
          </a:ln>
        </p:spPr>
      </p:sp>
      <p:sp>
        <p:nvSpPr>
          <p:cNvPr id="11" name="平行四边形 10"/>
          <p:cNvSpPr>
            <a:spLocks noGrp="1"/>
          </p:cNvSpPr>
          <p:nvPr/>
        </p:nvSpPr>
        <p:spPr>
          <a:xfrm>
            <a:off x="387772" y="50014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88000">
                <a:srgbClr val="006ED8">
                  <a:alpha val="29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平行四边形 11"/>
          <p:cNvSpPr>
            <a:spLocks noGrp="1"/>
          </p:cNvSpPr>
          <p:nvPr/>
        </p:nvSpPr>
        <p:spPr>
          <a:xfrm>
            <a:off x="533822" y="430292"/>
            <a:ext cx="330200" cy="342900"/>
          </a:xfrm>
          <a:prstGeom prst="parallelogram">
            <a:avLst/>
          </a:prstGeom>
          <a:gradFill>
            <a:gsLst>
              <a:gs pos="0">
                <a:srgbClr val="006ED8"/>
              </a:gs>
              <a:gs pos="100000">
                <a:srgbClr val="21459F"/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209550"/>
            <a:ext cx="9953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1674C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四篇论文放在一起看</a:t>
            </a:r>
            <a:endParaRPr sz="2550" b="1">
              <a:solidFill>
                <a:srgbClr val="0874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838200" y="1123950"/>
            <a:ext cx="10515600" cy="485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71717"/>
                </a:solidFill>
                <a:latin typeface="微软雅黑"/>
                <a:ea typeface="微软雅黑"/>
                <a:cs typeface="微软雅黑"/>
              </a:defRPr>
            </a:pPr>
            <a:endParaRPr sz="1575" b="0">
              <a:solidFill>
                <a:srgbClr val="17171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838200" y="1200150"/>
            <a:ext cx="2238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两篇推荐论文</a:t>
            </a:r>
            <a:endParaRPr sz="1575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838200" y="1619250"/>
            <a:ext cx="101727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57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两篇论文都把用户长期形成的习惯和近期表现出的兴趣分开建模，再一起预测下一次选择。但它们更关心用户接下来会选什么，对近期选择为什么发生变化讨论得比较少。</a:t>
            </a:r>
            <a:endParaRPr lang="zh-CN" altLang="en-US" sz="157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838200" y="2476500"/>
            <a:ext cx="10172700" cy="9525"/>
          </a:xfrm>
          <a:prstGeom prst="rect">
            <a:avLst/>
          </a:prstGeom>
          <a:solidFill>
            <a:srgbClr val="D8E4EE"/>
          </a:solidFill>
          <a:ln w="0">
            <a:noFill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838200" y="2647950"/>
            <a:ext cx="2238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15B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两篇高铁论文</a:t>
            </a:r>
            <a:endParaRPr sz="1575" b="1">
              <a:solidFill>
                <a:srgbClr val="115B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838200" y="3067050"/>
            <a:ext cx="101727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旅客当次选择还会受到票价、天气和节假日等条件影响，而且不同旅客面对同一条件时反应也不一样。</a:t>
            </a:r>
            <a:endParaRPr sz="157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838200" y="3924300"/>
            <a:ext cx="10172700" cy="971550"/>
          </a:xfrm>
          <a:prstGeom prst="rect">
            <a:avLst/>
          </a:prstGeom>
          <a:solidFill>
            <a:srgbClr val="EAF4FC"/>
          </a:solidFill>
          <a:ln w="0">
            <a:noFill/>
          </a:ln>
        </p:spPr>
        <p:txBody>
          <a:bodyPr lIns="190500" tIns="76200" rIns="171450" bIns="76200" anchor="ctr">
            <a:norm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例如，平时常买早班二等座的旅客，春节改买了晚班一等座。这可能是临时需求，也可能只是当时的票价和可选车次不同。只看最终订单，很难判断他的偏好是不是真的改变了。</a:t>
            </a:r>
            <a:endParaRPr sz="1500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864235" y="5048250"/>
            <a:ext cx="10172700" cy="723900"/>
          </a:xfrm>
          <a:prstGeom prst="rect">
            <a:avLst/>
          </a:prstGeom>
          <a:solidFill>
            <a:srgbClr val="115B9B"/>
          </a:solidFill>
          <a:ln w="0">
            <a:noFill/>
          </a:ln>
        </p:spPr>
        <p:txBody>
          <a:bodyPr lIns="190500" tIns="38100" rIns="171450" bIns="3810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动态画像不能简单追加每一条订单。更新前还要看旅客过去怎样选择、当时有哪些车次可买，以及这种变化之后是否持续出现。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3000">
                <a:schemeClr val="accent5">
                  <a:lumMod val="40000"/>
                  <a:lumOff val="60000"/>
                  <a:alpha val="88186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43" name="图片 34"/>
          <p:cNvPicPr>
            <a:picLocks noChangeAspect="1"/>
          </p:cNvPicPr>
          <p:nvPr/>
        </p:nvPicPr>
        <p:blipFill rotWithShape="1">
          <a:blip r:embed="rId1"/>
          <a:srcRect t="4621" b="7977"/>
          <a:stretch>
            <a:fillRect/>
          </a:stretch>
        </p:blipFill>
        <p:spPr>
          <a:xfrm>
            <a:off x="3994484" y="0"/>
            <a:ext cx="8197516" cy="5474630"/>
          </a:xfrm>
        </p:spPr>
      </p:pic>
      <p:sp>
        <p:nvSpPr>
          <p:cNvPr id="11" name="矩形: 单圆角 4"/>
          <p:cNvSpPr>
            <a:spLocks noGrp="1"/>
          </p:cNvSpPr>
          <p:nvPr/>
        </p:nvSpPr>
        <p:spPr>
          <a:xfrm flipV="1">
            <a:off x="0" y="0"/>
            <a:ext cx="12192000" cy="5474630"/>
          </a:xfrm>
          <a:prstGeom prst="round1Rect">
            <a:avLst>
              <a:gd name="adj" fmla="val 50000"/>
            </a:avLst>
          </a:prstGeom>
          <a:gradFill>
            <a:gsLst>
              <a:gs pos="4000">
                <a:srgbClr val="2F90D8"/>
              </a:gs>
              <a:gs pos="44000">
                <a:srgbClr val="3354B5"/>
              </a:gs>
              <a:gs pos="100000">
                <a:srgbClr val="201E97">
                  <a:alpha val="63137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738771" y="2715121"/>
            <a:ext cx="10803464" cy="483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FFFFFF"/>
                </a:solidFill>
                <a:effectLst>
                  <a:outerShdw blurRad="127000" dist="38100" dir="2700000" algn="tl" rotWithShape="0">
                    <a:prstClr val="black">
                      <a:alpha val="45000"/>
                    </a:prst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谢谢老师！</a:t>
            </a:r>
            <a:endParaRPr sz="3150" b="1" i="0" u="none" cap="none" spc="0">
              <a:ln>
                <a:noFill/>
              </a:ln>
              <a:solidFill>
                <a:srgbClr val="FFFFFF"/>
              </a:solidFill>
              <a:effectLst>
                <a:outerShdw blurRad="127000" dist="38100" dir="2700000" algn="tl" rotWithShape="0">
                  <a:prstClr val="black">
                    <a:alpha val="45000"/>
                  </a:prst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6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39" y="694065"/>
            <a:ext cx="3110302" cy="941397"/>
          </a:xfrm>
          <a:prstGeom prst="rect">
            <a:avLst/>
          </a:prstGeom>
        </p:spPr>
      </p:pic>
      <p:sp>
        <p:nvSpPr>
          <p:cNvPr id="39" name="矩形 38"/>
          <p:cNvSpPr>
            <a:spLocks noGrp="1"/>
          </p:cNvSpPr>
          <p:nvPr/>
        </p:nvSpPr>
        <p:spPr>
          <a:xfrm>
            <a:off x="3714750" y="38100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敬请批评指正</a:t>
            </a:r>
            <a:endParaRPr sz="17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2283</Words>
  <Application>WPS 文字</Application>
  <PresentationFormat>Converted Presentation</PresentationFormat>
  <Paragraphs>141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汉仪旗黑</vt:lpstr>
      <vt:lpstr>Arial</vt:lpstr>
      <vt:lpstr>Calibri</vt:lpstr>
      <vt:lpstr>PingFang SC</vt:lpstr>
      <vt:lpstr>Times New Roman</vt:lpstr>
      <vt:lpstr>等线</vt:lpstr>
      <vt:lpstr>苹方-简</vt:lpstr>
      <vt:lpstr>Helvetica Neue</vt:lpstr>
      <vt:lpstr>微软雅黑</vt:lpstr>
      <vt:lpstr>宋体</vt:lpstr>
      <vt:lpstr>Arial Unicode MS</vt:lpstr>
      <vt:lpstr>宋体-简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杰刘</cp:lastModifiedBy>
  <cp:revision>8</cp:revision>
  <dcterms:created xsi:type="dcterms:W3CDTF">2026-09-24T02:53:56Z</dcterms:created>
  <dcterms:modified xsi:type="dcterms:W3CDTF">2026-09-24T02:53:56Z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AB02F795F64C9233ABF4B36AD97A8D8D_42</vt:lpwstr>
  </property>
  <property fmtid="{D5CDD505-2E9C-101B-9397-08002B2CF9AE}" pid="3" name="KSOProductBuildVer">
    <vt:lpwstr>2052-12.1.28496.28496</vt:lpwstr>
  </property>
</Properties>
</file>